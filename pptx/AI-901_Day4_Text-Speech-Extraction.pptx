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D3EE"/>
                </a:solidFill>
              </a:rPr>
              <a:t>DAY 4 · 08-Jul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Text Analysis, Speech &amp;
Information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A7B0C8"/>
                </a:solidFill>
              </a:rPr>
              <a:t>NLP concepts · Azure Speech in Foundry Tools · Azure Content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How NLP works — 3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Tokenization</a:t>
            </a:r>
            <a:r>
              <a:rPr sz="2000" b="0">
                <a:solidFill>
                  <a:srgbClr val="E8ECF8"/>
                </a:solidFill>
              </a:rPr>
              <a:t> — split text into tokens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Statistical</a:t>
            </a:r>
            <a:r>
              <a:rPr sz="2000" b="0">
                <a:solidFill>
                  <a:srgbClr val="E8ECF8"/>
                </a:solidFill>
              </a:rPr>
              <a:t> — word counts / TF-IDF / bag-of-words (no real meaning)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Semantic</a:t>
            </a:r>
            <a:r>
              <a:rPr sz="2000" b="0">
                <a:solidFill>
                  <a:srgbClr val="E8ECF8"/>
                </a:solidFill>
              </a:rPr>
              <a:t> — embeddings + transformers = meaning &amp; context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Cue: 'word frequency' → statistical · 'synonyms match' → semantic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Four text-analysis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Keyword extraction</a:t>
            </a:r>
            <a:r>
              <a:rPr sz="2000" b="0">
                <a:solidFill>
                  <a:srgbClr val="E8ECF8"/>
                </a:solidFill>
              </a:rPr>
              <a:t> — main talking points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Entity detection (NER)</a:t>
            </a:r>
            <a:r>
              <a:rPr sz="2000" b="0">
                <a:solidFill>
                  <a:srgbClr val="E8ECF8"/>
                </a:solidFill>
              </a:rPr>
              <a:t> — Person / Location / Org / Date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Sentiment analysis</a:t>
            </a:r>
            <a:r>
              <a:rPr sz="2000" b="0">
                <a:solidFill>
                  <a:srgbClr val="E8ECF8"/>
                </a:solidFill>
              </a:rPr>
              <a:t> — positive / negative / neutral / </a:t>
            </a:r>
            <a:r>
              <a:rPr sz="2000" b="1">
                <a:solidFill>
                  <a:srgbClr val="FFFFFF"/>
                </a:solidFill>
              </a:rPr>
              <a:t>mixed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Summarization</a:t>
            </a:r>
            <a:r>
              <a:rPr sz="2000" b="0">
                <a:solidFill>
                  <a:srgbClr val="E8ECF8"/>
                </a:solidFill>
              </a:rPr>
              <a:t> — a shorter version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Also: language detection · PII · entity linking · CLU · question answering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NLP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2103120"/>
          </a:xfrm>
          <a:prstGeom prst="roundRect">
            <a:avLst/>
          </a:prstGeom>
          <a:solidFill>
            <a:srgbClr val="231A0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200">
                <a:solidFill>
                  <a:srgbClr val="F59E0B"/>
                </a:solidFill>
              </a:rPr>
              <a:t>⚠  EXAM TRAP  —  </a:t>
            </a:r>
            <a:r>
              <a:rPr sz="2200" b="0">
                <a:solidFill>
                  <a:srgbClr val="E8ECF8"/>
                </a:solidFill>
              </a:rPr>
              <a:t>CLU = </a:t>
            </a:r>
            <a:r>
              <a:rPr sz="2200" b="1">
                <a:solidFill>
                  <a:srgbClr val="FFFFFF"/>
                </a:solidFill>
              </a:rPr>
              <a:t>intent / action</a:t>
            </a:r>
            <a:r>
              <a:rPr sz="2200" b="0">
                <a:solidFill>
                  <a:srgbClr val="E8ECF8"/>
                </a:solidFill>
              </a:rPr>
              <a:t> ('cancel my booking'). Question answering = </a:t>
            </a:r>
            <a:r>
              <a:rPr sz="2200" b="1">
                <a:solidFill>
                  <a:srgbClr val="FFFFFF"/>
                </a:solidFill>
              </a:rPr>
              <a:t>FAQ from a knowledge base</a:t>
            </a:r>
            <a:r>
              <a:rPr sz="2200" b="0">
                <a:solidFill>
                  <a:srgbClr val="E8ECF8"/>
                </a:solidFill>
              </a:rPr>
              <a:t>. LUIS→CLU, QnA Maker→question answering.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Implement text analysis in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Prompt a model with a </a:t>
            </a:r>
            <a:r>
              <a:rPr sz="2000" b="1">
                <a:solidFill>
                  <a:srgbClr val="FFFFFF"/>
                </a:solidFill>
              </a:rPr>
              <a:t>system</a:t>
            </a:r>
            <a:r>
              <a:rPr sz="2000" b="0">
                <a:solidFill>
                  <a:srgbClr val="E8ECF8"/>
                </a:solidFill>
              </a:rPr>
              <a:t> message: 'return JSON: sentiment, key_phrases, entities, summary'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Use </a:t>
            </a:r>
            <a:r>
              <a:rPr sz="2000" b="1">
                <a:solidFill>
                  <a:srgbClr val="FFFFFF"/>
                </a:solidFill>
              </a:rPr>
              <a:t>temperature = 0</a:t>
            </a:r>
            <a:r>
              <a:rPr sz="2000" b="0">
                <a:solidFill>
                  <a:srgbClr val="E8ECF8"/>
                </a:solidFill>
              </a:rPr>
              <a:t> for deterministic analysis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Model + prompt</a:t>
            </a:r>
            <a:r>
              <a:rPr sz="2000" b="0">
                <a:solidFill>
                  <a:srgbClr val="E8ECF8"/>
                </a:solidFill>
              </a:rPr>
              <a:t> = flexible, multilingual, less deterministic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Azure Language tool</a:t>
            </a:r>
            <a:r>
              <a:rPr sz="2000" b="0">
                <a:solidFill>
                  <a:srgbClr val="E8ECF8"/>
                </a:solidFill>
              </a:rPr>
              <a:t> = consistent, structured, prebuilt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Speech — two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F3D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</a:rPr>
              <a:t>Speech recognition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1">
                <a:solidFill>
                  <a:srgbClr val="FFFFFF"/>
                </a:solidFill>
              </a:rPr>
              <a:t>audio → text</a:t>
            </a:r>
            <a:r>
              <a:rPr sz="1600" b="0">
                <a:solidFill>
                  <a:srgbClr val="E8ECF8"/>
                </a:solidFill>
              </a:rPr>
              <a:t> (STT)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transcription, captions, commands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120640" cy="4754880"/>
          </a:xfrm>
          <a:prstGeom prst="roundRect">
            <a:avLst/>
          </a:prstGeom>
          <a:solidFill>
            <a:srgbClr val="161F3D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</a:rPr>
              <a:t>Speech synthesis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1">
                <a:solidFill>
                  <a:srgbClr val="FFFFFF"/>
                </a:solidFill>
              </a:rPr>
              <a:t>text → audio</a:t>
            </a:r>
            <a:r>
              <a:rPr sz="1600" b="0">
                <a:solidFill>
                  <a:srgbClr val="E8ECF8"/>
                </a:solidFill>
              </a:rPr>
              <a:t> (TTS)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neural voices, SSML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Speech in AI-901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Azure Speech in Foundry Tools</a:t>
            </a:r>
            <a:r>
              <a:rPr sz="2000" b="0">
                <a:solidFill>
                  <a:srgbClr val="E8ECF8"/>
                </a:solidFill>
              </a:rPr>
              <a:t> — STT/TTS apps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Speech-capable agent</a:t>
            </a:r>
            <a:r>
              <a:rPr sz="2000" b="0">
                <a:solidFill>
                  <a:srgbClr val="E8ECF8"/>
                </a:solidFill>
              </a:rPr>
              <a:t> — users talk to it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Multimodal audio model</a:t>
            </a:r>
            <a:r>
              <a:rPr sz="2000" b="0">
                <a:solidFill>
                  <a:srgbClr val="E8ECF8"/>
                </a:solidFill>
              </a:rPr>
              <a:t> — hear + reply with one model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Cue: 'transcribe' → STT · 'read aloud' → TTS · 'translate spoken' → speech translation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Information extraction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OCR</a:t>
            </a:r>
            <a:r>
              <a:rPr sz="2000" b="0">
                <a:solidFill>
                  <a:srgbClr val="E8ECF8"/>
                </a:solidFill>
              </a:rPr>
              <a:t> — detect &amp; read text inside images/scans (first step)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Field extraction &amp; mapping</a:t>
            </a:r>
            <a:r>
              <a:rPr sz="2000" b="0">
                <a:solidFill>
                  <a:srgbClr val="E8ECF8"/>
                </a:solidFill>
              </a:rPr>
              <a:t> — value → named field (number → total)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That mapping is exactly a Content Understanding </a:t>
            </a:r>
            <a:r>
              <a:rPr sz="2000" b="1">
                <a:solidFill>
                  <a:srgbClr val="FFFFFF"/>
                </a:solidFill>
              </a:rPr>
              <a:t>field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Azure Content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One multimodal service: </a:t>
            </a:r>
            <a:r>
              <a:rPr sz="2000" b="1">
                <a:solidFill>
                  <a:srgbClr val="FFFFFF"/>
                </a:solidFill>
              </a:rPr>
              <a:t>documents, images, audio, video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Define an </a:t>
            </a:r>
            <a:r>
              <a:rPr sz="2000" b="1">
                <a:solidFill>
                  <a:srgbClr val="FFFFFF"/>
                </a:solidFill>
              </a:rPr>
              <a:t>analyzer</a:t>
            </a:r>
            <a:r>
              <a:rPr sz="2000" b="0">
                <a:solidFill>
                  <a:srgbClr val="E8ECF8"/>
                </a:solidFill>
              </a:rPr>
              <a:t> + </a:t>
            </a:r>
            <a:r>
              <a:rPr sz="2000" b="1">
                <a:solidFill>
                  <a:srgbClr val="FFFFFF"/>
                </a:solidFill>
              </a:rPr>
              <a:t>field schema</a:t>
            </a:r>
            <a:r>
              <a:rPr sz="2000" b="0">
                <a:solidFill>
                  <a:srgbClr val="E8ECF8"/>
                </a:solidFill>
              </a:rPr>
              <a:t> (the fields to extract)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Returns </a:t>
            </a:r>
            <a:r>
              <a:rPr sz="2000" b="1">
                <a:solidFill>
                  <a:srgbClr val="FFFFFF"/>
                </a:solidFill>
              </a:rPr>
              <a:t>structured JSON</a:t>
            </a:r>
            <a:r>
              <a:rPr sz="2000" b="0">
                <a:solidFill>
                  <a:srgbClr val="E8ECF8"/>
                </a:solidFill>
              </a:rPr>
              <a:t> (field = value + confidence)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Build a lightweight extraction app on 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Extraction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2103120"/>
          </a:xfrm>
          <a:prstGeom prst="roundRect">
            <a:avLst/>
          </a:prstGeom>
          <a:solidFill>
            <a:srgbClr val="231A0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200">
                <a:solidFill>
                  <a:srgbClr val="F59E0B"/>
                </a:solidFill>
              </a:rPr>
              <a:t>⚠  EXAM TRAP  —  </a:t>
            </a:r>
            <a:r>
              <a:rPr sz="2200" b="0">
                <a:solidFill>
                  <a:srgbClr val="E8ECF8"/>
                </a:solidFill>
              </a:rPr>
              <a:t>50,000 invoices → structured fields = </a:t>
            </a:r>
            <a:r>
              <a:rPr sz="2200" b="1">
                <a:solidFill>
                  <a:srgbClr val="FFFFFF"/>
                </a:solidFill>
              </a:rPr>
              <a:t>Content Understanding</a:t>
            </a:r>
            <a:r>
              <a:rPr sz="2200" b="0">
                <a:solidFill>
                  <a:srgbClr val="E8ECF8"/>
                </a:solidFill>
              </a:rPr>
              <a:t>. One ad-hoc question about a single photo = </a:t>
            </a:r>
            <a:r>
              <a:rPr sz="2200" b="1">
                <a:solidFill>
                  <a:srgbClr val="FFFFFF"/>
                </a:solidFill>
              </a:rPr>
              <a:t>prompt a multimodal model</a:t>
            </a:r>
            <a:r>
              <a:rPr sz="2200" b="0">
                <a:solidFill>
                  <a:srgbClr val="E8ECF8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Day 4 labs &amp;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Text lab</a:t>
            </a:r>
            <a:r>
              <a:rPr sz="2000" b="0">
                <a:solidFill>
                  <a:srgbClr val="E8ECF8"/>
                </a:solidFill>
              </a:rPr>
              <a:t> — model returns sentiment + entities + summary as JSON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Speech lab</a:t>
            </a:r>
            <a:r>
              <a:rPr sz="2000" b="0">
                <a:solidFill>
                  <a:srgbClr val="E8ECF8"/>
                </a:solidFill>
              </a:rPr>
              <a:t> — STT a clip, TTS a sentence, tweak a voice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Lab 4</a:t>
            </a:r>
            <a:r>
              <a:rPr sz="2000" b="0">
                <a:solidFill>
                  <a:srgbClr val="E8ECF8"/>
                </a:solidFill>
              </a:rPr>
              <a:t> — Content Understanding invoice analyzer → read JSON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Then: </a:t>
            </a:r>
            <a:r>
              <a:rPr sz="2000" b="1">
                <a:solidFill>
                  <a:srgbClr val="FFFFFF"/>
                </a:solidFill>
              </a:rPr>
              <a:t>Practice Test 1, Q21–40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