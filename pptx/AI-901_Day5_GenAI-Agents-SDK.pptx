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2D3EE"/>
                </a:solidFill>
              </a:rPr>
              <a:t>DAY 5 · 09-Jul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6070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1">
                <a:solidFill>
                  <a:srgbClr val="FFFFFF"/>
                </a:solidFill>
              </a:rPr>
              <a:t>Generative AI, Agents &amp;
the Foundry SDK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A7B0C8"/>
                </a:solidFill>
              </a:rPr>
              <a:t>The heart of AI-901 — Domain 2 (55–60% of the exam)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5B8CFF"/>
                </a:solidFill>
              </a:rPr>
              <a:t>Prompts — the three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1">
                <a:solidFill>
                  <a:srgbClr val="FFFFFF"/>
                </a:solidFill>
              </a:rPr>
              <a:t>system</a:t>
            </a:r>
            <a:r>
              <a:rPr sz="2000" b="0">
                <a:solidFill>
                  <a:srgbClr val="E8ECF8"/>
                </a:solidFill>
              </a:rPr>
              <a:t> — persona · rules · grounding · format · guardrails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1">
                <a:solidFill>
                  <a:srgbClr val="FFFFFF"/>
                </a:solidFill>
              </a:rPr>
              <a:t>user</a:t>
            </a:r>
            <a:r>
              <a:rPr sz="2000" b="0">
                <a:solidFill>
                  <a:srgbClr val="E8ECF8"/>
                </a:solidFill>
              </a:rPr>
              <a:t> — the actual request (+ image/audio)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1">
                <a:solidFill>
                  <a:srgbClr val="FFFFFF"/>
                </a:solidFill>
              </a:rPr>
              <a:t>assistant</a:t>
            </a:r>
            <a:r>
              <a:rPr sz="2000" b="0">
                <a:solidFill>
                  <a:srgbClr val="E8ECF8"/>
                </a:solidFill>
              </a:rPr>
              <a:t> — prior replies (context)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0">
                <a:solidFill>
                  <a:srgbClr val="E8ECF8"/>
                </a:solidFill>
              </a:rPr>
              <a:t>Techniques: clear instructions · few-shot · grounding · chain-of-thought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0">
                <a:solidFill>
                  <a:srgbClr val="E8ECF8"/>
                </a:solidFill>
              </a:rPr>
              <a:t>Chat models are </a:t>
            </a:r>
            <a:r>
              <a:rPr sz="2000" b="1">
                <a:solidFill>
                  <a:srgbClr val="FFFFFF"/>
                </a:solidFill>
              </a:rPr>
              <a:t>stateless per call</a:t>
            </a:r>
            <a:r>
              <a:rPr sz="2000" b="0">
                <a:solidFill>
                  <a:srgbClr val="E8ECF8"/>
                </a:solidFill>
              </a:rPr>
              <a:t> — the app resends history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A7B0C8"/>
                </a:solidFill>
              </a:rPr>
              <a:t>AI-901 FDP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5B8CFF"/>
                </a:solidFill>
              </a:rPr>
              <a:t>Prompt trap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94560"/>
            <a:ext cx="10698480" cy="2103120"/>
          </a:xfrm>
          <a:prstGeom prst="roundRect">
            <a:avLst/>
          </a:prstGeom>
          <a:solidFill>
            <a:srgbClr val="231A08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ctr"/>
            <a:r>
              <a:rPr b="1" sz="2200">
                <a:solidFill>
                  <a:srgbClr val="F59E0B"/>
                </a:solidFill>
              </a:rPr>
              <a:t>⚠  EXAM TRAP  —  </a:t>
            </a:r>
            <a:r>
              <a:rPr sz="2200" b="0">
                <a:solidFill>
                  <a:srgbClr val="E8ECF8"/>
                </a:solidFill>
              </a:rPr>
              <a:t>Rules and grounding go in the </a:t>
            </a:r>
            <a:r>
              <a:rPr sz="2200" b="1">
                <a:solidFill>
                  <a:srgbClr val="FFFFFF"/>
                </a:solidFill>
              </a:rPr>
              <a:t>system</a:t>
            </a:r>
            <a:r>
              <a:rPr sz="2200" b="0">
                <a:solidFill>
                  <a:srgbClr val="E8ECF8"/>
                </a:solidFill>
              </a:rPr>
              <a:t> message — never the user message.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A7B0C8"/>
                </a:solidFill>
              </a:rPr>
              <a:t>AI-901 FDP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5B8CFF"/>
                </a:solidFill>
              </a:rPr>
              <a:t>Lightweight chat client (Foundry SDK)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0">
                <a:solidFill>
                  <a:srgbClr val="E8ECF8"/>
                </a:solidFill>
              </a:rPr>
              <a:t>3 things to call a model: </a:t>
            </a:r>
            <a:r>
              <a:rPr sz="2000" b="1">
                <a:solidFill>
                  <a:srgbClr val="FFFFFF"/>
                </a:solidFill>
              </a:rPr>
              <a:t>endpoint · credential · deployment name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0">
                <a:solidFill>
                  <a:srgbClr val="E8ECF8"/>
                </a:solidFill>
              </a:rPr>
              <a:t>client.chat.completions.create(model=deployment, messages=[...])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0">
                <a:solidFill>
                  <a:srgbClr val="E8ECF8"/>
                </a:solidFill>
              </a:rPr>
              <a:t>Read the reply at </a:t>
            </a:r>
            <a:r>
              <a:rPr sz="2000" b="1">
                <a:solidFill>
                  <a:srgbClr val="FFFFFF"/>
                </a:solidFill>
              </a:rPr>
              <a:t>response.choices[0].message.content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0">
                <a:solidFill>
                  <a:srgbClr val="E8ECF8"/>
                </a:solidFill>
              </a:rPr>
              <a:t>Auth: API </a:t>
            </a:r>
            <a:r>
              <a:rPr sz="2000" b="1">
                <a:solidFill>
                  <a:srgbClr val="FFFFFF"/>
                </a:solidFill>
              </a:rPr>
              <a:t>key</a:t>
            </a:r>
            <a:r>
              <a:rPr sz="2000" b="0">
                <a:solidFill>
                  <a:srgbClr val="E8ECF8"/>
                </a:solidFill>
              </a:rPr>
              <a:t> or </a:t>
            </a:r>
            <a:r>
              <a:rPr sz="2000" b="1">
                <a:solidFill>
                  <a:srgbClr val="FFFFFF"/>
                </a:solidFill>
              </a:rPr>
              <a:t>Microsoft Entra ID</a:t>
            </a:r>
            <a:r>
              <a:rPr sz="2000" b="0">
                <a:solidFill>
                  <a:srgbClr val="E8ECF8"/>
                </a:solidFill>
              </a:rPr>
              <a:t> (DefaultAzureCredential)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A7B0C8"/>
                </a:solidFill>
              </a:rPr>
              <a:t>AI-901 FDP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5B8CFF"/>
                </a:solidFill>
              </a:rPr>
              <a:t>Pick the right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1">
                <a:solidFill>
                  <a:srgbClr val="FFFFFF"/>
                </a:solidFill>
              </a:rPr>
              <a:t>Reasoning (o-series)</a:t>
            </a:r>
            <a:r>
              <a:rPr sz="2000" b="0">
                <a:solidFill>
                  <a:srgbClr val="E8ECF8"/>
                </a:solidFill>
              </a:rPr>
              <a:t> — complex multi-step logic/math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1">
                <a:solidFill>
                  <a:srgbClr val="FFFFFF"/>
                </a:solidFill>
              </a:rPr>
              <a:t>Small (4o-mini / Phi)</a:t>
            </a:r>
            <a:r>
              <a:rPr sz="2000" b="0">
                <a:solidFill>
                  <a:srgbClr val="E8ECF8"/>
                </a:solidFill>
              </a:rPr>
              <a:t> — cheap, fast, high-volume simple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1">
                <a:solidFill>
                  <a:srgbClr val="FFFFFF"/>
                </a:solidFill>
              </a:rPr>
              <a:t>Multimodal</a:t>
            </a:r>
            <a:r>
              <a:rPr sz="2000" b="0">
                <a:solidFill>
                  <a:srgbClr val="E8ECF8"/>
                </a:solidFill>
              </a:rPr>
              <a:t> — image/audio input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1">
                <a:solidFill>
                  <a:srgbClr val="FFFFFF"/>
                </a:solidFill>
              </a:rPr>
              <a:t>Image-gen / Video-gen</a:t>
            </a:r>
            <a:r>
              <a:rPr sz="2000" b="0">
                <a:solidFill>
                  <a:srgbClr val="E8ECF8"/>
                </a:solidFill>
              </a:rPr>
              <a:t> — create visuals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1">
                <a:solidFill>
                  <a:srgbClr val="FFFFFF"/>
                </a:solidFill>
              </a:rPr>
              <a:t>Embeddings</a:t>
            </a:r>
            <a:r>
              <a:rPr sz="2000" b="0">
                <a:solidFill>
                  <a:srgbClr val="E8ECF8"/>
                </a:solidFill>
              </a:rPr>
              <a:t> — search / similarity / RAG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0">
                <a:solidFill>
                  <a:srgbClr val="E8ECF8"/>
                </a:solidFill>
              </a:rPr>
              <a:t>Choose by capability · cost · latency · context window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A7B0C8"/>
                </a:solidFill>
              </a:rPr>
              <a:t>AI-901 FDP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5B8CFF"/>
                </a:solidFill>
              </a:rPr>
              <a:t>Deployment types &amp; config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61F3D"/>
          </a:solidFill>
          <a:ln w="12700">
            <a:solidFill>
              <a:srgbClr val="5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</a:pPr>
            <a:r>
              <a:rPr sz="2200" b="1">
                <a:solidFill>
                  <a:srgbClr val="22D3EE"/>
                </a:solidFill>
              </a:rPr>
              <a:t>Deployment types</a:t>
            </a:r>
          </a:p>
          <a:p>
            <a:pPr>
              <a:spcAft>
                <a:spcPts val="600"/>
              </a:spcAft>
            </a:pPr>
            <a:r>
              <a:rPr b="1" sz="1600">
                <a:solidFill>
                  <a:srgbClr val="5B8CFF"/>
                </a:solidFill>
              </a:rPr>
              <a:t>•  </a:t>
            </a:r>
            <a:r>
              <a:rPr sz="1600" b="0">
                <a:solidFill>
                  <a:srgbClr val="E8ECF8"/>
                </a:solidFill>
              </a:rPr>
              <a:t>Standard / Global Standard (pay-go)</a:t>
            </a:r>
          </a:p>
          <a:p>
            <a:pPr>
              <a:spcAft>
                <a:spcPts val="600"/>
              </a:spcAft>
            </a:pPr>
            <a:r>
              <a:rPr b="1" sz="1600">
                <a:solidFill>
                  <a:srgbClr val="5B8CFF"/>
                </a:solidFill>
              </a:rPr>
              <a:t>•  </a:t>
            </a:r>
            <a:r>
              <a:rPr sz="1600" b="1">
                <a:solidFill>
                  <a:srgbClr val="FFFFFF"/>
                </a:solidFill>
              </a:rPr>
              <a:t>PTU</a:t>
            </a:r>
            <a:r>
              <a:rPr sz="1600" b="0">
                <a:solidFill>
                  <a:srgbClr val="E8ECF8"/>
                </a:solidFill>
              </a:rPr>
              <a:t> — reserved, predictable latency</a:t>
            </a:r>
          </a:p>
          <a:p>
            <a:pPr>
              <a:spcAft>
                <a:spcPts val="600"/>
              </a:spcAft>
            </a:pPr>
            <a:r>
              <a:rPr b="1" sz="1600">
                <a:solidFill>
                  <a:srgbClr val="5B8CFF"/>
                </a:solidFill>
              </a:rPr>
              <a:t>•  </a:t>
            </a:r>
            <a:r>
              <a:rPr sz="1600" b="0">
                <a:solidFill>
                  <a:srgbClr val="E8ECF8"/>
                </a:solidFill>
              </a:rPr>
              <a:t>Batch — async bulk</a:t>
            </a:r>
          </a:p>
          <a:p>
            <a:pPr>
              <a:spcAft>
                <a:spcPts val="600"/>
              </a:spcAft>
            </a:pPr>
            <a:r>
              <a:rPr b="1" sz="1600">
                <a:solidFill>
                  <a:srgbClr val="5B8CFF"/>
                </a:solidFill>
              </a:rPr>
              <a:t>•  </a:t>
            </a:r>
            <a:r>
              <a:rPr sz="1600" b="0">
                <a:solidFill>
                  <a:srgbClr val="E8ECF8"/>
                </a:solidFill>
              </a:rPr>
              <a:t>Serverless / Managed compute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463040"/>
            <a:ext cx="5120640" cy="4754880"/>
          </a:xfrm>
          <a:prstGeom prst="roundRect">
            <a:avLst/>
          </a:prstGeom>
          <a:solidFill>
            <a:srgbClr val="161F3D"/>
          </a:solidFill>
          <a:ln w="12700">
            <a:solidFill>
              <a:srgbClr val="5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</a:pPr>
            <a:r>
              <a:rPr sz="2200" b="1">
                <a:solidFill>
                  <a:srgbClr val="22D3EE"/>
                </a:solidFill>
              </a:rPr>
              <a:t>Inference params</a:t>
            </a:r>
          </a:p>
          <a:p>
            <a:pPr>
              <a:spcAft>
                <a:spcPts val="600"/>
              </a:spcAft>
            </a:pPr>
            <a:r>
              <a:rPr b="1" sz="1600">
                <a:solidFill>
                  <a:srgbClr val="5B8CFF"/>
                </a:solidFill>
              </a:rPr>
              <a:t>•  </a:t>
            </a:r>
            <a:r>
              <a:rPr sz="1600" b="1">
                <a:solidFill>
                  <a:srgbClr val="FFFFFF"/>
                </a:solidFill>
              </a:rPr>
              <a:t>temperature/top_p</a:t>
            </a:r>
            <a:r>
              <a:rPr sz="1600" b="0">
                <a:solidFill>
                  <a:srgbClr val="E8ECF8"/>
                </a:solidFill>
              </a:rPr>
              <a:t> = randomness</a:t>
            </a:r>
          </a:p>
          <a:p>
            <a:pPr>
              <a:spcAft>
                <a:spcPts val="600"/>
              </a:spcAft>
            </a:pPr>
            <a:r>
              <a:rPr b="1" sz="1600">
                <a:solidFill>
                  <a:srgbClr val="5B8CFF"/>
                </a:solidFill>
              </a:rPr>
              <a:t>•  </a:t>
            </a:r>
            <a:r>
              <a:rPr sz="1600" b="1">
                <a:solidFill>
                  <a:srgbClr val="FFFFFF"/>
                </a:solidFill>
              </a:rPr>
              <a:t>max_tokens</a:t>
            </a:r>
            <a:r>
              <a:rPr sz="1600" b="0">
                <a:solidFill>
                  <a:srgbClr val="E8ECF8"/>
                </a:solidFill>
              </a:rPr>
              <a:t> = length</a:t>
            </a:r>
          </a:p>
          <a:p>
            <a:pPr>
              <a:spcAft>
                <a:spcPts val="600"/>
              </a:spcAft>
            </a:pPr>
            <a:r>
              <a:rPr b="1" sz="1600">
                <a:solidFill>
                  <a:srgbClr val="5B8CFF"/>
                </a:solidFill>
              </a:rPr>
              <a:t>•  </a:t>
            </a:r>
            <a:r>
              <a:rPr sz="1600" b="1">
                <a:solidFill>
                  <a:srgbClr val="FFFFFF"/>
                </a:solidFill>
              </a:rPr>
              <a:t>freq/presence penalty</a:t>
            </a:r>
            <a:r>
              <a:rPr sz="1600" b="0">
                <a:solidFill>
                  <a:srgbClr val="E8ECF8"/>
                </a:solidFill>
              </a:rPr>
              <a:t> = repetition</a:t>
            </a:r>
          </a:p>
          <a:p>
            <a:pPr>
              <a:spcAft>
                <a:spcPts val="600"/>
              </a:spcAft>
            </a:pPr>
            <a:r>
              <a:rPr b="1" sz="1600">
                <a:solidFill>
                  <a:srgbClr val="5B8CFF"/>
                </a:solidFill>
              </a:rPr>
              <a:t>•  </a:t>
            </a:r>
            <a:r>
              <a:rPr sz="1600" b="1">
                <a:solidFill>
                  <a:srgbClr val="FFFFFF"/>
                </a:solidFill>
              </a:rPr>
              <a:t>seed</a:t>
            </a:r>
            <a:r>
              <a:rPr sz="1600" b="0">
                <a:solidFill>
                  <a:srgbClr val="E8ECF8"/>
                </a:solidFill>
              </a:rPr>
              <a:t> = repeatable · </a:t>
            </a:r>
            <a:r>
              <a:rPr sz="1600" b="1">
                <a:solidFill>
                  <a:srgbClr val="FFFFFF"/>
                </a:solidFill>
              </a:rPr>
              <a:t>stop</a:t>
            </a:r>
            <a:r>
              <a:rPr sz="1600" b="0">
                <a:solidFill>
                  <a:srgbClr val="E8ECF8"/>
                </a:solidFill>
              </a:rPr>
              <a:t> = halt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A7B0C8"/>
                </a:solidFill>
              </a:rPr>
              <a:t>AI-901 FDP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5B8CFF"/>
                </a:solidFill>
              </a:rPr>
              <a:t>Deployment trap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94560"/>
            <a:ext cx="10698480" cy="2103120"/>
          </a:xfrm>
          <a:prstGeom prst="roundRect">
            <a:avLst/>
          </a:prstGeom>
          <a:solidFill>
            <a:srgbClr val="231A08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ctr"/>
            <a:r>
              <a:rPr b="1" sz="2200">
                <a:solidFill>
                  <a:srgbClr val="F59E0B"/>
                </a:solidFill>
              </a:rPr>
              <a:t>⚠  EXAM TRAP  —  </a:t>
            </a:r>
            <a:r>
              <a:rPr sz="2200" b="0">
                <a:solidFill>
                  <a:srgbClr val="E8ECF8"/>
                </a:solidFill>
              </a:rPr>
              <a:t>Steady high-volume with predictable latency → </a:t>
            </a:r>
            <a:r>
              <a:rPr sz="2200" b="1">
                <a:solidFill>
                  <a:srgbClr val="FFFFFF"/>
                </a:solidFill>
              </a:rPr>
              <a:t>Provisioned Throughput (PTU)</a:t>
            </a:r>
            <a:r>
              <a:rPr sz="2200" b="0">
                <a:solidFill>
                  <a:srgbClr val="E8ECF8"/>
                </a:solidFill>
              </a:rPr>
              <a:t>. Batch = async bulk. Standard = pay-go, no reservation.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A7B0C8"/>
                </a:solidFill>
              </a:rPr>
              <a:t>AI-901 FDP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5B8CFF"/>
                </a:solidFill>
              </a:rPr>
              <a:t>Agents — the equation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1">
                <a:solidFill>
                  <a:srgbClr val="FFFFFF"/>
                </a:solidFill>
              </a:rPr>
              <a:t>Agent = model + instructions + tools (+ knowledge)</a:t>
            </a:r>
            <a:r>
              <a:rPr sz="2000" b="0">
                <a:solidFill>
                  <a:srgbClr val="E8ECF8"/>
                </a:solidFill>
              </a:rPr>
              <a:t> that can *act*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0">
                <a:solidFill>
                  <a:srgbClr val="E8ECF8"/>
                </a:solidFill>
              </a:rPr>
              <a:t>Tools: code interpreter · file search / knowledge · function calling · search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0">
                <a:solidFill>
                  <a:srgbClr val="E8ECF8"/>
                </a:solidFill>
              </a:rPr>
              <a:t>Agent vs chat: agent </a:t>
            </a:r>
            <a:r>
              <a:rPr sz="2000" b="1">
                <a:solidFill>
                  <a:srgbClr val="FFFFFF"/>
                </a:solidFill>
              </a:rPr>
              <a:t>uses tools &amp; acts</a:t>
            </a:r>
            <a:r>
              <a:rPr sz="2000" b="0">
                <a:solidFill>
                  <a:srgbClr val="E8ECF8"/>
                </a:solidFill>
              </a:rPr>
              <a:t>; chat = text-in/text-out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0">
                <a:solidFill>
                  <a:srgbClr val="E8ECF8"/>
                </a:solidFill>
              </a:rPr>
              <a:t>Lifecycle: </a:t>
            </a:r>
            <a:r>
              <a:rPr sz="2000" b="1">
                <a:solidFill>
                  <a:srgbClr val="FFFFFF"/>
                </a:solidFill>
              </a:rPr>
              <a:t>create agent → thread → message → run → read messages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A7B0C8"/>
                </a:solidFill>
              </a:rPr>
              <a:t>AI-901 FDP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5B8CFF"/>
                </a:solidFill>
              </a:rPr>
              <a:t>Build &amp; run a single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0">
                <a:solidFill>
                  <a:srgbClr val="E8ECF8"/>
                </a:solidFill>
              </a:rPr>
              <a:t>Portal: pick model → write </a:t>
            </a:r>
            <a:r>
              <a:rPr sz="2000" b="1">
                <a:solidFill>
                  <a:srgbClr val="FFFFFF"/>
                </a:solidFill>
              </a:rPr>
              <a:t>instructions</a:t>
            </a:r>
            <a:r>
              <a:rPr sz="2000" b="0">
                <a:solidFill>
                  <a:srgbClr val="E8ECF8"/>
                </a:solidFill>
              </a:rPr>
              <a:t> → add </a:t>
            </a:r>
            <a:r>
              <a:rPr sz="2000" b="1">
                <a:solidFill>
                  <a:srgbClr val="FFFFFF"/>
                </a:solidFill>
              </a:rPr>
              <a:t>tools/knowledge</a:t>
            </a:r>
            <a:r>
              <a:rPr sz="2000" b="0">
                <a:solidFill>
                  <a:srgbClr val="E8ECF8"/>
                </a:solidFill>
              </a:rPr>
              <a:t> → test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0">
                <a:solidFill>
                  <a:srgbClr val="E8ECF8"/>
                </a:solidFill>
              </a:rPr>
              <a:t>SDK: create_agent(model, instructions) 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0">
                <a:solidFill>
                  <a:srgbClr val="E8ECF8"/>
                </a:solidFill>
              </a:rPr>
              <a:t>  create_thread() → create_message(user) → create_and_process_run()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0">
                <a:solidFill>
                  <a:srgbClr val="E8ECF8"/>
                </a:solidFill>
              </a:rPr>
              <a:t>  list_messages() to read the reply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0">
                <a:solidFill>
                  <a:srgbClr val="E8ECF8"/>
                </a:solidFill>
              </a:rPr>
              <a:t>A </a:t>
            </a:r>
            <a:r>
              <a:rPr sz="2000" b="1">
                <a:solidFill>
                  <a:srgbClr val="FFFFFF"/>
                </a:solidFill>
              </a:rPr>
              <a:t>run</a:t>
            </a:r>
            <a:r>
              <a:rPr sz="2000" b="0">
                <a:solidFill>
                  <a:srgbClr val="E8ECF8"/>
                </a:solidFill>
              </a:rPr>
              <a:t> is what executes reasoning + tool calls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A7B0C8"/>
                </a:solidFill>
              </a:rPr>
              <a:t>AI-901 FDP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5B8CFF"/>
                </a:solidFill>
              </a:rPr>
              <a:t>Grounding &amp;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1">
                <a:solidFill>
                  <a:srgbClr val="FFFFFF"/>
                </a:solidFill>
              </a:rPr>
              <a:t>Grounding / RAG</a:t>
            </a:r>
            <a:r>
              <a:rPr sz="2000" b="0">
                <a:solidFill>
                  <a:srgbClr val="E8ECF8"/>
                </a:solidFill>
              </a:rPr>
              <a:t> — retrieve your data → add to prompt → fewer hallucinations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1">
                <a:solidFill>
                  <a:srgbClr val="FFFFFF"/>
                </a:solidFill>
              </a:rPr>
              <a:t>Content Safety</a:t>
            </a:r>
            <a:r>
              <a:rPr sz="2000" b="0">
                <a:solidFill>
                  <a:srgbClr val="E8ECF8"/>
                </a:solidFill>
              </a:rPr>
              <a:t> — content filters (hate/violence/…)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1">
                <a:solidFill>
                  <a:srgbClr val="FFFFFF"/>
                </a:solidFill>
              </a:rPr>
              <a:t>Prompt shields</a:t>
            </a:r>
            <a:r>
              <a:rPr sz="2000" b="0">
                <a:solidFill>
                  <a:srgbClr val="E8ECF8"/>
                </a:solidFill>
              </a:rPr>
              <a:t> — defend against prompt injection / jailbreak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1">
                <a:solidFill>
                  <a:srgbClr val="FFFFFF"/>
                </a:solidFill>
              </a:rPr>
              <a:t>Evaluations</a:t>
            </a:r>
            <a:r>
              <a:rPr sz="2000" b="0">
                <a:solidFill>
                  <a:srgbClr val="E8ECF8"/>
                </a:solidFill>
              </a:rPr>
              <a:t> — groundedness · relevance ·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A7B0C8"/>
                </a:solidFill>
              </a:rPr>
              <a:t>AI-901 FDP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5B8CFF"/>
                </a:solidFill>
              </a:rPr>
              <a:t>Day 5 labs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1">
                <a:solidFill>
                  <a:srgbClr val="FFFFFF"/>
                </a:solidFill>
              </a:rPr>
              <a:t>Lab 2</a:t>
            </a:r>
            <a:r>
              <a:rPr sz="2000" b="0">
                <a:solidFill>
                  <a:srgbClr val="E8ECF8"/>
                </a:solidFill>
              </a:rPr>
              <a:t> — SDK chat client; change system message + temperature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1">
                <a:solidFill>
                  <a:srgbClr val="FFFFFF"/>
                </a:solidFill>
              </a:rPr>
              <a:t>Lab 3</a:t>
            </a:r>
            <a:r>
              <a:rPr sz="2000" b="0">
                <a:solidFill>
                  <a:srgbClr val="E8ECF8"/>
                </a:solidFill>
              </a:rPr>
              <a:t> — single agent with file-search over a PDF, then run from SDK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0">
                <a:solidFill>
                  <a:srgbClr val="E8ECF8"/>
                </a:solidFill>
              </a:rPr>
              <a:t>Then: </a:t>
            </a:r>
            <a:r>
              <a:rPr sz="2000" b="1">
                <a:solidFill>
                  <a:srgbClr val="FFFFFF"/>
                </a:solidFill>
              </a:rPr>
              <a:t>Practice Test 2</a:t>
            </a:r>
            <a:r>
              <a:rPr sz="2000" b="0">
                <a:solidFill>
                  <a:srgbClr val="E8ECF8"/>
                </a:solidFill>
              </a:rPr>
              <a:t> (live workshop)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A7B0C8"/>
                </a:solidFill>
              </a:rPr>
              <a:t>AI-901 FDP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