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2D3EE"/>
                </a:solidFill>
              </a:rPr>
              <a:t>DAY 3 · 07-Jul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607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FFFFFF"/>
                </a:solidFill>
              </a:rPr>
              <a:t>Foundations, Responsible AI,
Foundry &amp; Computer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A7B0C8"/>
                </a:solidFill>
              </a:rPr>
              <a:t>Microsoft Certified: Azure AI Fundamentals — Exam AI-901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B8CFF"/>
                </a:solidFill>
              </a:rPr>
              <a:t>AI-901 is NOT AI-900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61F3D"/>
          </a:solidFill>
          <a:ln w="1270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22D3EE"/>
                </a:solidFill>
              </a:rPr>
              <a:t>Old (AI-900, retired)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5B8CFF"/>
                </a:solidFill>
              </a:rPr>
              <a:t>•  </a:t>
            </a:r>
            <a:r>
              <a:rPr sz="1600" b="0">
                <a:solidFill>
                  <a:srgbClr val="E8ECF8"/>
                </a:solidFill>
              </a:rPr>
              <a:t>Services in </a:t>
            </a:r>
            <a:r>
              <a:rPr sz="1600" b="1">
                <a:solidFill>
                  <a:srgbClr val="FFFFFF"/>
                </a:solidFill>
              </a:rPr>
              <a:t>isolation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5B8CFF"/>
                </a:solidFill>
              </a:rPr>
              <a:t>•  </a:t>
            </a:r>
            <a:r>
              <a:rPr sz="1600" b="1">
                <a:solidFill>
                  <a:srgbClr val="FFFFFF"/>
                </a:solidFill>
              </a:rPr>
              <a:t>No coding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5B8CFF"/>
                </a:solidFill>
              </a:rPr>
              <a:t>•  </a:t>
            </a:r>
            <a:r>
              <a:rPr sz="1600" b="0">
                <a:solidFill>
                  <a:srgbClr val="E8ECF8"/>
                </a:solidFill>
              </a:rPr>
              <a:t>Form Recognizer, LUIS, QnA Maker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463040"/>
            <a:ext cx="5120640" cy="4754880"/>
          </a:xfrm>
          <a:prstGeom prst="roundRect">
            <a:avLst/>
          </a:prstGeom>
          <a:solidFill>
            <a:srgbClr val="161F3D"/>
          </a:solidFill>
          <a:ln w="1270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22D3EE"/>
                </a:solidFill>
              </a:rPr>
              <a:t>New (AI-901)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5B8CFF"/>
                </a:solidFill>
              </a:rPr>
              <a:t>•  </a:t>
            </a:r>
            <a:r>
              <a:rPr sz="1600" b="0">
                <a:solidFill>
                  <a:srgbClr val="E8ECF8"/>
                </a:solidFill>
              </a:rPr>
              <a:t>Build in </a:t>
            </a:r>
            <a:r>
              <a:rPr sz="1600" b="1">
                <a:solidFill>
                  <a:srgbClr val="FFFFFF"/>
                </a:solidFill>
              </a:rPr>
              <a:t>Microsoft Foundry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5B8CFF"/>
                </a:solidFill>
              </a:rPr>
              <a:t>•  </a:t>
            </a:r>
            <a:r>
              <a:rPr sz="1600" b="0">
                <a:solidFill>
                  <a:srgbClr val="E8ECF8"/>
                </a:solidFill>
              </a:rPr>
              <a:t>Assumes </a:t>
            </a:r>
            <a:r>
              <a:rPr sz="1600" b="1">
                <a:solidFill>
                  <a:srgbClr val="FFFFFF"/>
                </a:solidFill>
              </a:rPr>
              <a:t>basic Python + SDK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5B8CFF"/>
                </a:solidFill>
              </a:rPr>
              <a:t>•  </a:t>
            </a:r>
            <a:r>
              <a:rPr sz="1600" b="0">
                <a:solidFill>
                  <a:srgbClr val="E8ECF8"/>
                </a:solidFill>
              </a:rPr>
              <a:t>Agents + </a:t>
            </a:r>
            <a:r>
              <a:rPr sz="1600" b="1">
                <a:solidFill>
                  <a:srgbClr val="FFFFFF"/>
                </a:solidFill>
              </a:rPr>
              <a:t>Content Understanding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7B0C8"/>
                </a:solidFill>
              </a:rPr>
              <a:t>AI-901 FDP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B8CFF"/>
                </a:solidFill>
              </a:rPr>
              <a:t>Exam 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Code </a:t>
            </a:r>
            <a:r>
              <a:rPr sz="2000" b="1">
                <a:solidFill>
                  <a:srgbClr val="FFFFFF"/>
                </a:solidFill>
              </a:rPr>
              <a:t>AI-901</a:t>
            </a:r>
            <a:r>
              <a:rPr sz="2000" b="0">
                <a:solidFill>
                  <a:srgbClr val="E8ECF8"/>
                </a:solidFill>
              </a:rPr>
              <a:t> · pass </a:t>
            </a:r>
            <a:r>
              <a:rPr sz="2000" b="1">
                <a:solidFill>
                  <a:srgbClr val="FFFFFF"/>
                </a:solidFill>
              </a:rPr>
              <a:t>700 / 1000</a:t>
            </a:r>
            <a:r>
              <a:rPr sz="2000" b="0">
                <a:solidFill>
                  <a:srgbClr val="E8ECF8"/>
                </a:solidFill>
              </a:rPr>
              <a:t> (scaled)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~40–60 questions · ~45–60 minutes · ~$99 USD · never expires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Domain 1 — Identify AI concepts &amp; capabilities  </a:t>
            </a:r>
            <a:r>
              <a:rPr sz="2000" b="1">
                <a:solidFill>
                  <a:srgbClr val="FFFFFF"/>
                </a:solidFill>
              </a:rPr>
              <a:t>(40–45%)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Domain 2 — Implement with Microsoft Foundry  </a:t>
            </a:r>
            <a:r>
              <a:rPr sz="2000" b="1">
                <a:solidFill>
                  <a:srgbClr val="FFFFFF"/>
                </a:solidFill>
              </a:rPr>
              <a:t>(55–60%)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Teach </a:t>
            </a:r>
            <a:r>
              <a:rPr sz="2000" b="1">
                <a:solidFill>
                  <a:srgbClr val="FFFFFF"/>
                </a:solidFill>
              </a:rPr>
              <a:t>lab-first</a:t>
            </a:r>
            <a:r>
              <a:rPr sz="2000" b="0">
                <a:solidFill>
                  <a:srgbClr val="E8ECF8"/>
                </a:solidFill>
              </a:rPr>
              <a:t>: more than half the exam is *doing* it in Foundry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7B0C8"/>
                </a:solidFill>
              </a:rPr>
              <a:t>AI-901 FDP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B8CFF"/>
                </a:solidFill>
              </a:rPr>
              <a:t>AI workloads — scenario →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Create</a:t>
            </a:r>
            <a:r>
              <a:rPr sz="2000" b="0">
                <a:solidFill>
                  <a:srgbClr val="E8ECF8"/>
                </a:solidFill>
              </a:rPr>
              <a:t> text/images/video/code → generative models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Act</a:t>
            </a:r>
            <a:r>
              <a:rPr sz="2000" b="0">
                <a:solidFill>
                  <a:srgbClr val="E8ECF8"/>
                </a:solidFill>
              </a:rPr>
              <a:t> with tools + multi-step → agent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Understand text</a:t>
            </a:r>
            <a:r>
              <a:rPr sz="2000" b="0">
                <a:solidFill>
                  <a:srgbClr val="E8ECF8"/>
                </a:solidFill>
              </a:rPr>
              <a:t> → sentiment · entities · keywords · summary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Speech</a:t>
            </a:r>
            <a:r>
              <a:rPr sz="2000" b="0">
                <a:solidFill>
                  <a:srgbClr val="E8ECF8"/>
                </a:solidFill>
              </a:rPr>
              <a:t> → STT (recognition) / TTS (synthesis)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Vision</a:t>
            </a:r>
            <a:r>
              <a:rPr sz="2000" b="0">
                <a:solidFill>
                  <a:srgbClr val="E8ECF8"/>
                </a:solidFill>
              </a:rPr>
              <a:t> → classify · detect · OCR · describe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Extract</a:t>
            </a:r>
            <a:r>
              <a:rPr sz="2000" b="0">
                <a:solidFill>
                  <a:srgbClr val="E8ECF8"/>
                </a:solidFill>
              </a:rPr>
              <a:t> structured fields → Content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7B0C8"/>
                </a:solidFill>
              </a:rPr>
              <a:t>AI-901 FDP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B8CFF"/>
                </a:solidFill>
              </a:rPr>
              <a:t>Responsible AI — F.R.I.T.A.P.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Fairness</a:t>
            </a:r>
            <a:r>
              <a:rPr sz="2000" b="0">
                <a:solidFill>
                  <a:srgbClr val="E8ECF8"/>
                </a:solidFill>
              </a:rPr>
              <a:t> — no bias across groups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Reliability &amp; Safety</a:t>
            </a:r>
            <a:r>
              <a:rPr sz="2000" b="0">
                <a:solidFill>
                  <a:srgbClr val="E8ECF8"/>
                </a:solidFill>
              </a:rPr>
              <a:t> — the *system* behaves safely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Inclusiveness</a:t>
            </a:r>
            <a:r>
              <a:rPr sz="2000" b="0">
                <a:solidFill>
                  <a:srgbClr val="E8ECF8"/>
                </a:solidFill>
              </a:rPr>
              <a:t> — everyone, all abilities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Transparency</a:t>
            </a:r>
            <a:r>
              <a:rPr sz="2000" b="0">
                <a:solidFill>
                  <a:srgbClr val="E8ECF8"/>
                </a:solidFill>
              </a:rPr>
              <a:t> — disclose it's AI + its limits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Accountability</a:t>
            </a:r>
            <a:r>
              <a:rPr sz="2000" b="0">
                <a:solidFill>
                  <a:srgbClr val="E8ECF8"/>
                </a:solidFill>
              </a:rPr>
              <a:t> — *people/orgs* answerable + governance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Privacy &amp; Security</a:t>
            </a:r>
            <a:r>
              <a:rPr sz="2000" b="0">
                <a:solidFill>
                  <a:srgbClr val="E8ECF8"/>
                </a:solidFill>
              </a:rPr>
              <a:t> — protect data + secure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7B0C8"/>
                </a:solidFill>
              </a:rPr>
              <a:t>AI-901 FDP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B8CFF"/>
                </a:solidFill>
              </a:rPr>
              <a:t>The trap examiners love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10698480" cy="2103120"/>
          </a:xfrm>
          <a:prstGeom prst="roundRect">
            <a:avLst/>
          </a:prstGeom>
          <a:solidFill>
            <a:srgbClr val="231A08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/>
            <a:r>
              <a:rPr b="1" sz="2200">
                <a:solidFill>
                  <a:srgbClr val="F59E0B"/>
                </a:solidFill>
              </a:rPr>
              <a:t>⚠  EXAM TRAP  —  </a:t>
            </a:r>
            <a:r>
              <a:rPr sz="2200" b="0">
                <a:solidFill>
                  <a:srgbClr val="E8ECF8"/>
                </a:solidFill>
              </a:rPr>
              <a:t>Reliability &amp; Safety = the </a:t>
            </a:r>
            <a:r>
              <a:rPr sz="2200" b="1">
                <a:solidFill>
                  <a:srgbClr val="FFFFFF"/>
                </a:solidFill>
              </a:rPr>
              <a:t>system</a:t>
            </a:r>
            <a:r>
              <a:rPr sz="2200" b="0">
                <a:solidFill>
                  <a:srgbClr val="E8ECF8"/>
                </a:solidFill>
              </a:rPr>
              <a:t> behaves correctly. Accountability = </a:t>
            </a:r>
            <a:r>
              <a:rPr sz="2200" b="1">
                <a:solidFill>
                  <a:srgbClr val="FFFFFF"/>
                </a:solidFill>
              </a:rPr>
              <a:t>people</a:t>
            </a:r>
            <a:r>
              <a:rPr sz="2200" b="0">
                <a:solidFill>
                  <a:srgbClr val="E8ECF8"/>
                </a:solidFill>
              </a:rPr>
              <a:t> are answerable. Oversight board → </a:t>
            </a:r>
            <a:r>
              <a:rPr sz="2200" b="1">
                <a:solidFill>
                  <a:srgbClr val="FFFFFF"/>
                </a:solidFill>
              </a:rPr>
              <a:t>Accountability</a:t>
            </a:r>
            <a:r>
              <a:rPr sz="2200" b="0">
                <a:solidFill>
                  <a:srgbClr val="E8ECF8"/>
                </a:solidFill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7B0C8"/>
                </a:solidFill>
              </a:rPr>
              <a:t>AI-901 FDP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B8CFF"/>
                </a:solidFill>
              </a:rPr>
              <a:t>How generative AI models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Token</a:t>
            </a:r>
            <a:r>
              <a:rPr sz="2000" b="0">
                <a:solidFill>
                  <a:srgbClr val="E8ECF8"/>
                </a:solidFill>
              </a:rPr>
              <a:t> — unit of text; limits &amp; billing are token-based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Embedding</a:t>
            </a:r>
            <a:r>
              <a:rPr sz="2000" b="0">
                <a:solidFill>
                  <a:srgbClr val="E8ECF8"/>
                </a:solidFill>
              </a:rPr>
              <a:t> — numeric vector of meaning → search / RAG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Transformer</a:t>
            </a:r>
            <a:r>
              <a:rPr sz="2000" b="0">
                <a:solidFill>
                  <a:srgbClr val="E8ECF8"/>
                </a:solidFill>
              </a:rPr>
              <a:t> — architecture using *attention*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LLMs </a:t>
            </a:r>
            <a:r>
              <a:rPr sz="2000" b="1">
                <a:solidFill>
                  <a:srgbClr val="FFFFFF"/>
                </a:solidFill>
              </a:rPr>
              <a:t>predict the next token</a:t>
            </a:r>
            <a:r>
              <a:rPr sz="2000" b="0">
                <a:solidFill>
                  <a:srgbClr val="E8ECF8"/>
                </a:solidFill>
              </a:rPr>
              <a:t> (not a DB lookup) → can hallucinate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Fix hallucination with </a:t>
            </a:r>
            <a:r>
              <a:rPr sz="2000" b="1">
                <a:solidFill>
                  <a:srgbClr val="FFFFFF"/>
                </a:solidFill>
              </a:rPr>
              <a:t>grounding / RAG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Multimodal</a:t>
            </a:r>
            <a:r>
              <a:rPr sz="2000" b="0">
                <a:solidFill>
                  <a:srgbClr val="E8ECF8"/>
                </a:solidFill>
              </a:rPr>
              <a:t> = also handles images / audio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7B0C8"/>
                </a:solidFill>
              </a:rPr>
              <a:t>AI-901 FDP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B8CFF"/>
                </a:solidFill>
              </a:rPr>
              <a:t>Microsoft Foundry — where you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Portal at </a:t>
            </a:r>
            <a:r>
              <a:rPr sz="2000" b="1">
                <a:solidFill>
                  <a:srgbClr val="FFFFFF"/>
                </a:solidFill>
              </a:rPr>
              <a:t>ai.azure.com</a:t>
            </a:r>
            <a:r>
              <a:rPr sz="2000" b="0">
                <a:solidFill>
                  <a:srgbClr val="E8ECF8"/>
                </a:solidFill>
              </a:rPr>
              <a:t> (no-code) · </a:t>
            </a:r>
            <a:r>
              <a:rPr sz="2000" b="1">
                <a:solidFill>
                  <a:srgbClr val="FFFFFF"/>
                </a:solidFill>
              </a:rPr>
              <a:t>SDK</a:t>
            </a:r>
            <a:r>
              <a:rPr sz="2000" b="0">
                <a:solidFill>
                  <a:srgbClr val="E8ECF8"/>
                </a:solidFill>
              </a:rPr>
              <a:t> for code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Hub</a:t>
            </a:r>
            <a:r>
              <a:rPr sz="2000" b="0">
                <a:solidFill>
                  <a:srgbClr val="E8ECF8"/>
                </a:solidFill>
              </a:rPr>
              <a:t> (top workspace) → </a:t>
            </a:r>
            <a:r>
              <a:rPr sz="2000" b="1">
                <a:solidFill>
                  <a:srgbClr val="FFFFFF"/>
                </a:solidFill>
              </a:rPr>
              <a:t>Project</a:t>
            </a:r>
            <a:r>
              <a:rPr sz="2000" b="0">
                <a:solidFill>
                  <a:srgbClr val="E8ECF8"/>
                </a:solidFill>
              </a:rPr>
              <a:t> (a solution) → </a:t>
            </a:r>
            <a:r>
              <a:rPr sz="2000" b="1">
                <a:solidFill>
                  <a:srgbClr val="FFFFFF"/>
                </a:solidFill>
              </a:rPr>
              <a:t>Deployment</a:t>
            </a:r>
            <a:r>
              <a:rPr sz="2000" b="0">
                <a:solidFill>
                  <a:srgbClr val="E8ECF8"/>
                </a:solidFill>
              </a:rPr>
              <a:t> (callable model)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Deploy from the </a:t>
            </a:r>
            <a:r>
              <a:rPr sz="2000" b="1">
                <a:solidFill>
                  <a:srgbClr val="FFFFFF"/>
                </a:solidFill>
              </a:rPr>
              <a:t>model catalog</a:t>
            </a:r>
            <a:r>
              <a:rPr sz="2000" b="0">
                <a:solidFill>
                  <a:srgbClr val="E8ECF8"/>
                </a:solidFill>
              </a:rPr>
              <a:t>; note the </a:t>
            </a:r>
            <a:r>
              <a:rPr sz="2000" b="1">
                <a:solidFill>
                  <a:srgbClr val="FFFFFF"/>
                </a:solidFill>
              </a:rPr>
              <a:t>deployment name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Reach it via an </a:t>
            </a:r>
            <a:r>
              <a:rPr sz="2000" b="1">
                <a:solidFill>
                  <a:srgbClr val="FFFFFF"/>
                </a:solidFill>
              </a:rPr>
              <a:t>endpoint</a:t>
            </a:r>
            <a:r>
              <a:rPr sz="2000" b="0">
                <a:solidFill>
                  <a:srgbClr val="E8ECF8"/>
                </a:solidFill>
              </a:rPr>
              <a:t> + auth (key or Microsoft Entra ID)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Tools</a:t>
            </a:r>
            <a:r>
              <a:rPr sz="2000" b="0">
                <a:solidFill>
                  <a:srgbClr val="E8ECF8"/>
                </a:solidFill>
              </a:rPr>
              <a:t>: Azure Speech, Content Understanding, grounding/search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7B0C8"/>
                </a:solidFill>
              </a:rPr>
              <a:t>AI-901 FDP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B8CFF"/>
                </a:solidFill>
              </a:rPr>
              <a:t>Config trap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10698480" cy="2103120"/>
          </a:xfrm>
          <a:prstGeom prst="roundRect">
            <a:avLst/>
          </a:prstGeom>
          <a:solidFill>
            <a:srgbClr val="231A08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ctr"/>
            <a:r>
              <a:rPr b="1" sz="2200">
                <a:solidFill>
                  <a:srgbClr val="F59E0B"/>
                </a:solidFill>
              </a:rPr>
              <a:t>⚠  EXAM TRAP  —  </a:t>
            </a:r>
            <a:r>
              <a:rPr sz="2200" b="1">
                <a:solidFill>
                  <a:srgbClr val="FFFFFF"/>
                </a:solidFill>
              </a:rPr>
              <a:t>temperature / top_p = randomness</a:t>
            </a:r>
            <a:r>
              <a:rPr sz="2200" b="0">
                <a:solidFill>
                  <a:srgbClr val="E8ECF8"/>
                </a:solidFill>
              </a:rPr>
              <a:t>. </a:t>
            </a:r>
            <a:r>
              <a:rPr sz="2200" b="1">
                <a:solidFill>
                  <a:srgbClr val="FFFFFF"/>
                </a:solidFill>
              </a:rPr>
              <a:t>max_tokens = length</a:t>
            </a:r>
            <a:r>
              <a:rPr sz="2200" b="0">
                <a:solidFill>
                  <a:srgbClr val="E8ECF8"/>
                </a:solidFill>
              </a:rPr>
              <a:t>. Never mix them 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7B0C8"/>
                </a:solidFill>
              </a:rPr>
              <a:t>AI-901 FDP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B8CFF"/>
                </a:solidFill>
              </a:rPr>
              <a:t>Computer vision —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Image classification</a:t>
            </a:r>
            <a:r>
              <a:rPr sz="2000" b="0">
                <a:solidFill>
                  <a:srgbClr val="E8ECF8"/>
                </a:solidFill>
              </a:rPr>
              <a:t> — one whole-image label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Object detection</a:t>
            </a:r>
            <a:r>
              <a:rPr sz="2000" b="0">
                <a:solidFill>
                  <a:srgbClr val="E8ECF8"/>
                </a:solidFill>
              </a:rPr>
              <a:t> — labels + </a:t>
            </a:r>
            <a:r>
              <a:rPr sz="2000" b="1">
                <a:solidFill>
                  <a:srgbClr val="FFFFFF"/>
                </a:solidFill>
              </a:rPr>
              <a:t>bounding boxes</a:t>
            </a:r>
            <a:r>
              <a:rPr sz="2000" b="0">
                <a:solidFill>
                  <a:srgbClr val="E8ECF8"/>
                </a:solidFill>
              </a:rPr>
              <a:t> (where)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OCR</a:t>
            </a:r>
            <a:r>
              <a:rPr sz="2000" b="0">
                <a:solidFill>
                  <a:srgbClr val="E8ECF8"/>
                </a:solidFill>
              </a:rPr>
              <a:t> — read text inside an image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Image description</a:t>
            </a:r>
            <a:r>
              <a:rPr sz="2000" b="0">
                <a:solidFill>
                  <a:srgbClr val="E8ECF8"/>
                </a:solidFill>
              </a:rPr>
              <a:t> — caption / tags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How it works: pixels → </a:t>
            </a:r>
            <a:r>
              <a:rPr sz="2000" b="1">
                <a:solidFill>
                  <a:srgbClr val="FFFFFF"/>
                </a:solidFill>
              </a:rPr>
              <a:t>CNN</a:t>
            </a:r>
            <a:r>
              <a:rPr sz="2000" b="0">
                <a:solidFill>
                  <a:srgbClr val="E8ECF8"/>
                </a:solidFill>
              </a:rPr>
              <a:t> → </a:t>
            </a:r>
            <a:r>
              <a:rPr sz="2000" b="1">
                <a:solidFill>
                  <a:srgbClr val="FFFFFF"/>
                </a:solidFill>
              </a:rPr>
              <a:t>Vision Transformer /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7B0C8"/>
                </a:solidFill>
              </a:rPr>
              <a:t>AI-901 FDP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B8CFF"/>
                </a:solidFill>
              </a:rPr>
              <a:t>Generate images &amp; 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Image-generation</a:t>
            </a:r>
            <a:r>
              <a:rPr sz="2000" b="0">
                <a:solidFill>
                  <a:srgbClr val="E8ECF8"/>
                </a:solidFill>
              </a:rPr>
              <a:t> (DALL·E 3 / GPT-image) → still images from text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Video-generation</a:t>
            </a:r>
            <a:r>
              <a:rPr sz="2000" b="0">
                <a:solidFill>
                  <a:srgbClr val="E8ECF8"/>
                </a:solidFill>
              </a:rPr>
              <a:t> → short clips from text  *(new in AI-901)*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Multimodal</a:t>
            </a:r>
            <a:r>
              <a:rPr sz="2000" b="0">
                <a:solidFill>
                  <a:srgbClr val="E8ECF8"/>
                </a:solidFill>
              </a:rPr>
              <a:t> → *understands* images/video as input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Interpret an image: attach it inside the </a:t>
            </a:r>
            <a:r>
              <a:rPr sz="2000" b="1">
                <a:solidFill>
                  <a:srgbClr val="FFFFFF"/>
                </a:solidFill>
              </a:rPr>
              <a:t>user</a:t>
            </a:r>
            <a:r>
              <a:rPr sz="2000" b="0">
                <a:solidFill>
                  <a:srgbClr val="E8ECF8"/>
                </a:solidFill>
              </a:rPr>
              <a:t> message content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All governed by </a:t>
            </a:r>
            <a:r>
              <a:rPr sz="2000" b="1">
                <a:solidFill>
                  <a:srgbClr val="FFFFFF"/>
                </a:solidFill>
              </a:rPr>
              <a:t>Content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7B0C8"/>
                </a:solidFill>
              </a:rPr>
              <a:t>AI-901 FDP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B8CFF"/>
                </a:solidFill>
              </a:rPr>
              <a:t>Day 3 lab &amp; homework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1">
                <a:solidFill>
                  <a:srgbClr val="FFFFFF"/>
                </a:solidFill>
              </a:rPr>
              <a:t>Lab 1</a:t>
            </a:r>
            <a:r>
              <a:rPr sz="2000" b="0">
                <a:solidFill>
                  <a:srgbClr val="E8ECF8"/>
                </a:solidFill>
              </a:rPr>
              <a:t> — deploy GPT-4o-mini, chat, move temperature/max_tokens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Vision playground: describe a photo + read its text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Deploy an image model; generate 2 images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2D3EE"/>
                </a:solidFill>
              </a:rPr>
              <a:t>•  </a:t>
            </a:r>
            <a:r>
              <a:rPr sz="2000" b="0">
                <a:solidFill>
                  <a:srgbClr val="E8ECF8"/>
                </a:solidFill>
              </a:rPr>
              <a:t>Then: </a:t>
            </a:r>
            <a:r>
              <a:rPr sz="2000" b="1">
                <a:solidFill>
                  <a:srgbClr val="FFFFFF"/>
                </a:solidFill>
              </a:rPr>
              <a:t>Practice Test 1, Q1–20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7B0C8"/>
                </a:solidFill>
              </a:rPr>
              <a:t>AI-901 FDP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